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Noto Sans"/>
      <p:regular r:id="rId19"/>
      <p:bold r:id="rId20"/>
      <p:italic r:id="rId21"/>
      <p:boldItalic r:id="rId22"/>
    </p:embeddedFont>
    <p:embeddedFont>
      <p:font typeface="Noto Sans Armenian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-bold.fntdata"/><Relationship Id="rId11" Type="http://schemas.openxmlformats.org/officeDocument/2006/relationships/slide" Target="slides/slide6.xml"/><Relationship Id="rId22" Type="http://schemas.openxmlformats.org/officeDocument/2006/relationships/font" Target="fonts/NotoSans-boldItalic.fntdata"/><Relationship Id="rId10" Type="http://schemas.openxmlformats.org/officeDocument/2006/relationships/slide" Target="slides/slide5.xml"/><Relationship Id="rId21" Type="http://schemas.openxmlformats.org/officeDocument/2006/relationships/font" Target="fonts/NotoSans-italic.fntdata"/><Relationship Id="rId13" Type="http://schemas.openxmlformats.org/officeDocument/2006/relationships/slide" Target="slides/slide8.xml"/><Relationship Id="rId24" Type="http://schemas.openxmlformats.org/officeDocument/2006/relationships/font" Target="fonts/NotoSansArmenian-bold.fntdata"/><Relationship Id="rId12" Type="http://schemas.openxmlformats.org/officeDocument/2006/relationships/slide" Target="slides/slide7.xml"/><Relationship Id="rId23" Type="http://schemas.openxmlformats.org/officeDocument/2006/relationships/font" Target="fonts/NotoSansArmenian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otoSans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7f7f8eb7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7f7f8eb7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931131ca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931131ca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931131ca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931131ca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93e2b477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93e2b477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93e2b477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93e2b477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93e2b477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93e2b477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Char char="●"/>
            </a:pPr>
            <a:r>
              <a:rPr lang="en" sz="2000">
                <a:solidFill>
                  <a:srgbClr val="0F172A"/>
                </a:solidFill>
              </a:rPr>
              <a:t>Supervise implementation of additional security measures to prevent recurrence.</a:t>
            </a:r>
            <a:endParaRPr sz="2000">
              <a:solidFill>
                <a:srgbClr val="0F172A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Char char="●"/>
            </a:pPr>
            <a:r>
              <a:t/>
            </a:r>
            <a:endParaRPr sz="2000">
              <a:solidFill>
                <a:srgbClr val="0F172A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a6e53aab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a6e53aab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aa5c3071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aa5c3071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18efbcc2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18efbcc2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18efbcc2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18efbcc2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18efbcc2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18efbcc2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18efbcc2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b18efbcc2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DOMAIN 2in ISC2</a:t>
            </a:r>
            <a:endParaRPr sz="1900"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 (</a:t>
            </a: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incident</a:t>
            </a: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 </a:t>
            </a: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response</a:t>
            </a: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 </a:t>
            </a: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business</a:t>
            </a: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 continuity &amp; disaster recovery)</a:t>
            </a:r>
            <a:endParaRPr b="1" sz="1900">
              <a:latin typeface="Noto Sans Armenian"/>
              <a:ea typeface="Noto Sans Armenian"/>
              <a:cs typeface="Noto Sans Armenian"/>
              <a:sym typeface="Noto Sans Armenia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latin typeface="Noto Sans Armenian"/>
              <a:ea typeface="Noto Sans Armenian"/>
              <a:cs typeface="Noto Sans Armenian"/>
              <a:sym typeface="Noto Sans Armeni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BY </a:t>
            </a:r>
            <a:endParaRPr b="1" sz="1900">
              <a:latin typeface="Noto Sans Armenian"/>
              <a:ea typeface="Noto Sans Armenian"/>
              <a:cs typeface="Noto Sans Armenian"/>
              <a:sym typeface="Noto Sans Armeni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latin typeface="Noto Sans Armenian"/>
              <a:ea typeface="Noto Sans Armenian"/>
              <a:cs typeface="Noto Sans Armenian"/>
              <a:sym typeface="Noto Sans Armeni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EZEKWE KING  DAVID NNAEMEKA</a:t>
            </a:r>
            <a:endParaRPr/>
          </a:p>
        </p:txBody>
      </p:sp>
      <p:pic>
        <p:nvPicPr>
          <p:cNvPr id="55" name="Google Shape;55;p13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6125" y="4342125"/>
            <a:ext cx="1386175" cy="6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9350"/>
            <a:ext cx="8520600" cy="4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SCOPE 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594326"/>
            <a:ext cx="8520600" cy="37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Incident response terminologies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Goals of incident response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Components of the incident response plan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Incident response team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Composition of the incident response team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Roles of CIRTs / CSIRTs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Business continuity plan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Workplace application and goals of business continuity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Components and execution of a business continuity plan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Business continuity in action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Components of the disaster recovery plan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Conclusion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Q&amp;A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6125" y="4342125"/>
            <a:ext cx="1386175" cy="6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INCIDENT RESPONSE TERMINOLOGIES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28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"/>
              <a:t>BREACH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"/>
              <a:t>EVENT 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"/>
              <a:t>EXPLOIT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"/>
              <a:t>INCIDENT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"/>
              <a:t>INTRUSION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"/>
              <a:t>THREAT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"/>
              <a:t>VULNERABILITY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"/>
              <a:t>BIA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"/>
              <a:t>ZERO DAY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5950" y="4301500"/>
            <a:ext cx="1476350" cy="61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318450"/>
            <a:ext cx="8248800" cy="5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GOAL OF INCIDENT RESPONSE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546825" y="1030800"/>
            <a:ext cx="5939700" cy="3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5600"/>
              <a:t>PROTECTION OF LIFE,HEALTH AND SAFETY OF THE BUSINESS.</a:t>
            </a:r>
            <a:endParaRPr sz="5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6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5600">
                <a:solidFill>
                  <a:schemeClr val="dk1"/>
                </a:solidFill>
              </a:rPr>
              <a:t>RESTORE NORMAL OPERATION QUICKLY </a:t>
            </a:r>
            <a:endParaRPr sz="5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5600">
                <a:solidFill>
                  <a:schemeClr val="dk1"/>
                </a:solidFill>
              </a:rPr>
              <a:t>REDUCE IMPACT ON BUSINESS PROCESSES</a:t>
            </a:r>
            <a:br>
              <a:rPr lang="en" sz="5600">
                <a:solidFill>
                  <a:schemeClr val="dk1"/>
                </a:solidFill>
              </a:rPr>
            </a:br>
            <a:endParaRPr sz="5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5600">
                <a:solidFill>
                  <a:schemeClr val="dk1"/>
                </a:solidFill>
              </a:rPr>
              <a:t>PREVENT RECURRENCE THROUGH LESSONS LEARNED </a:t>
            </a:r>
            <a:endParaRPr sz="5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5600">
                <a:solidFill>
                  <a:schemeClr val="dk1"/>
                </a:solidFill>
              </a:rPr>
            </a:br>
            <a:endParaRPr sz="5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5600">
                <a:solidFill>
                  <a:schemeClr val="dk1"/>
                </a:solidFill>
              </a:rPr>
              <a:t>MAINTAIN STAKEHOLDER AND MANAGEMENT COMMUNICATION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b="1" lang="en" sz="1500">
                <a:solidFill>
                  <a:schemeClr val="dk1"/>
                </a:solidFill>
              </a:rPr>
            </a:br>
            <a:br>
              <a:rPr b="1" lang="en" sz="1100">
                <a:solidFill>
                  <a:schemeClr val="dk1"/>
                </a:solidFill>
              </a:rPr>
            </a:br>
            <a:endParaRPr/>
          </a:p>
        </p:txBody>
      </p:sp>
      <p:pic>
        <p:nvPicPr>
          <p:cNvPr id="76" name="Google Shape;76;p16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5950" y="4340925"/>
            <a:ext cx="1381819" cy="57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/>
        </p:nvSpPr>
        <p:spPr>
          <a:xfrm>
            <a:off x="832350" y="287025"/>
            <a:ext cx="74793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2"/>
                </a:solidFill>
              </a:rPr>
              <a:t>COMPONENT OF THE INCIDENT RESPONSE PLAN</a:t>
            </a:r>
            <a:endParaRPr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 </a:t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id="82" name="Google Shape;82;p17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4500" y="4342125"/>
            <a:ext cx="1507800" cy="62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 title="Screenshot_From_2025-11-27_10-23-01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1575" y="896651"/>
            <a:ext cx="7112900" cy="344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24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INCIDENT RESPONSE TEAM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IS THE INCIDENT RESPONSE TEAM: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● Representative(s) of senior management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● Information security professionals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● Legal representatives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● Public affairs/communications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representatives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● Engineering representatives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(system and network)</a:t>
            </a:r>
            <a:endParaRPr/>
          </a:p>
        </p:txBody>
      </p:sp>
      <p:pic>
        <p:nvPicPr>
          <p:cNvPr id="90" name="Google Shape;90;p18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4500" y="4342125"/>
            <a:ext cx="1507800" cy="6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6100"/>
            <a:ext cx="8520600" cy="9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 OF THE CIRTs/CSIRTs</a:t>
            </a:r>
            <a:endParaRPr/>
          </a:p>
        </p:txBody>
      </p:sp>
      <p:pic>
        <p:nvPicPr>
          <p:cNvPr id="96" name="Google Shape;96;p19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0700" y="4237375"/>
            <a:ext cx="1507800" cy="6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/>
          <p:nvPr/>
        </p:nvSpPr>
        <p:spPr>
          <a:xfrm>
            <a:off x="620125" y="745350"/>
            <a:ext cx="64320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Char char="●"/>
            </a:pPr>
            <a:r>
              <a:rPr lang="en" sz="2000">
                <a:solidFill>
                  <a:srgbClr val="0F172A"/>
                </a:solidFill>
              </a:rPr>
              <a:t>Security Hardening.</a:t>
            </a:r>
            <a:endParaRPr sz="2000">
              <a:solidFill>
                <a:srgbClr val="0F172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F172A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</a:rPr>
              <a:t>Incident Remediation.</a:t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</a:rPr>
              <a:t>Impact Assessment.</a:t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</a:rPr>
              <a:t>Data Exposure Analysis.</a:t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F172A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BUSINESS CONTINUITY PLAN WORKPLACE APPLICATION &amp; GOALS OF BUSINESS CONTINUITY</a:t>
            </a:r>
            <a:endParaRPr sz="1800"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74424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/>
              <a:t>WORKPLACE APPLICATION:</a:t>
            </a:r>
            <a:endParaRPr sz="215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50">
                <a:solidFill>
                  <a:srgbClr val="FF0000"/>
                </a:solidFill>
                <a:highlight>
                  <a:schemeClr val="lt1"/>
                </a:highlight>
              </a:rPr>
              <a:t>REDBOOK</a:t>
            </a:r>
            <a:endParaRPr sz="2150">
              <a:solidFill>
                <a:srgbClr val="FF0000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50">
                <a:solidFill>
                  <a:schemeClr val="dk1"/>
                </a:solidFill>
                <a:highlight>
                  <a:schemeClr val="lt1"/>
                </a:highlight>
              </a:rPr>
              <a:t>GOALS OF BUSINESS </a:t>
            </a:r>
            <a:r>
              <a:rPr lang="en" sz="2150">
                <a:solidFill>
                  <a:schemeClr val="dk1"/>
                </a:solidFill>
                <a:highlight>
                  <a:schemeClr val="lt1"/>
                </a:highlight>
              </a:rPr>
              <a:t>CONTINUITY</a:t>
            </a:r>
            <a:r>
              <a:rPr lang="en" sz="2150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endParaRPr sz="21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0368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2150">
                <a:solidFill>
                  <a:schemeClr val="dk1"/>
                </a:solidFill>
              </a:rPr>
              <a:t>Ensure critical business operations continue during disruptions</a:t>
            </a:r>
            <a:br>
              <a:rPr b="1" lang="en" sz="2150">
                <a:solidFill>
                  <a:schemeClr val="dk1"/>
                </a:solidFill>
              </a:rPr>
            </a:br>
            <a:endParaRPr b="1" sz="2150">
              <a:solidFill>
                <a:schemeClr val="dk1"/>
              </a:solidFill>
            </a:endParaRPr>
          </a:p>
          <a:p>
            <a:pPr indent="-30368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2150">
                <a:solidFill>
                  <a:schemeClr val="dk1"/>
                </a:solidFill>
              </a:rPr>
              <a:t>Minimize downtime and service interruption</a:t>
            </a:r>
            <a:br>
              <a:rPr b="1" lang="en" sz="2150">
                <a:solidFill>
                  <a:schemeClr val="dk1"/>
                </a:solidFill>
              </a:rPr>
            </a:br>
            <a:endParaRPr b="1" sz="2150">
              <a:solidFill>
                <a:schemeClr val="dk1"/>
              </a:solidFill>
            </a:endParaRPr>
          </a:p>
          <a:p>
            <a:pPr indent="-30368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2150">
                <a:solidFill>
                  <a:schemeClr val="dk1"/>
                </a:solidFill>
              </a:rPr>
              <a:t>Protect essential assets, data, and resources</a:t>
            </a:r>
            <a:br>
              <a:rPr b="1" lang="en" sz="2150">
                <a:solidFill>
                  <a:schemeClr val="dk1"/>
                </a:solidFill>
              </a:rPr>
            </a:br>
            <a:endParaRPr b="1" sz="2150">
              <a:solidFill>
                <a:schemeClr val="dk1"/>
              </a:solidFill>
            </a:endParaRPr>
          </a:p>
          <a:p>
            <a:pPr indent="-30368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2150">
                <a:solidFill>
                  <a:schemeClr val="dk1"/>
                </a:solidFill>
              </a:rPr>
              <a:t>Maintain delivery of products and services to customers</a:t>
            </a:r>
            <a:br>
              <a:rPr b="1" lang="en" sz="2150">
                <a:solidFill>
                  <a:schemeClr val="dk1"/>
                </a:solidFill>
              </a:rPr>
            </a:br>
            <a:endParaRPr b="1" sz="2150">
              <a:solidFill>
                <a:schemeClr val="dk1"/>
              </a:solidFill>
            </a:endParaRPr>
          </a:p>
          <a:p>
            <a:pPr indent="-30368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2150">
                <a:solidFill>
                  <a:schemeClr val="dk1"/>
                </a:solidFill>
              </a:rPr>
              <a:t>Reduce financial and operational impact of disruptions</a:t>
            </a:r>
            <a:br>
              <a:rPr b="1" lang="en" sz="2150">
                <a:solidFill>
                  <a:schemeClr val="dk1"/>
                </a:solidFill>
              </a:rPr>
            </a:br>
            <a:endParaRPr b="1" sz="2150">
              <a:solidFill>
                <a:schemeClr val="dk1"/>
              </a:solidFill>
            </a:endParaRPr>
          </a:p>
          <a:p>
            <a:pPr indent="-30368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2150">
                <a:solidFill>
                  <a:schemeClr val="dk1"/>
                </a:solidFill>
              </a:rPr>
              <a:t>Enable fast and organized recovery after an incident</a:t>
            </a:r>
            <a:br>
              <a:rPr b="1" lang="en" sz="2150">
                <a:solidFill>
                  <a:schemeClr val="dk1"/>
                </a:solidFill>
              </a:rPr>
            </a:br>
            <a:endParaRPr b="1" sz="2150">
              <a:solidFill>
                <a:schemeClr val="dk1"/>
              </a:solidFill>
            </a:endParaRPr>
          </a:p>
          <a:p>
            <a:pPr indent="-30368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2150">
                <a:solidFill>
                  <a:schemeClr val="dk1"/>
                </a:solidFill>
              </a:rPr>
              <a:t>Strengthen organizational resilience and preparedness</a:t>
            </a:r>
            <a:endParaRPr b="1" sz="215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20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0700" y="4237375"/>
            <a:ext cx="1507800" cy="6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COMPONENT AND EXECUTION OF A BUSINESS CONTINUITY PLAN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10" name="Google Shape;110;p21" title="Screenshot_From_2025-12-18_11-19-30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600" y="1152475"/>
            <a:ext cx="7783325" cy="379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 title="Screenshot_From_2025-11-14_10-22-39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1200" y="4372500"/>
            <a:ext cx="1937300" cy="69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1206775" y="645300"/>
            <a:ext cx="6830100" cy="341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4750">
                <a:highlight>
                  <a:srgbClr val="FFFFFF"/>
                </a:highlight>
              </a:rPr>
              <a:t>Business</a:t>
            </a:r>
            <a:endParaRPr sz="4750"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4750">
                <a:highlight>
                  <a:srgbClr val="FFFFFF"/>
                </a:highlight>
              </a:rPr>
              <a:t>Continuity</a:t>
            </a:r>
            <a:endParaRPr sz="4750"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750">
                <a:highlight>
                  <a:srgbClr val="FFFFFF"/>
                </a:highlight>
              </a:rPr>
              <a:t>in </a:t>
            </a:r>
            <a:endParaRPr sz="4750"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4750">
                <a:highlight>
                  <a:srgbClr val="FFFFFF"/>
                </a:highlight>
              </a:rPr>
              <a:t>Action</a:t>
            </a:r>
            <a:endParaRPr sz="4750"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2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1200" y="4372500"/>
            <a:ext cx="1937300" cy="69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COMPONENTS OF DISASTER RECOVERY PLAN</a:t>
            </a:r>
            <a:endParaRPr/>
          </a:p>
        </p:txBody>
      </p:sp>
      <p:pic>
        <p:nvPicPr>
          <p:cNvPr id="123" name="Google Shape;123;p23" title="Screenshot_From_2025-12-18_12-18-47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375" y="1156500"/>
            <a:ext cx="6916150" cy="373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3" title="Screenshot_From_2025-11-14_10-22-39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15975" y="4409900"/>
            <a:ext cx="1832525" cy="65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CONCLUSION</a:t>
            </a:r>
            <a:endParaRPr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11700" y="1068675"/>
            <a:ext cx="8186100" cy="35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6000">
                <a:solidFill>
                  <a:schemeClr val="dk1"/>
                </a:solidFill>
              </a:rPr>
              <a:t>Conclusion: The Resilience Triad</a:t>
            </a:r>
            <a:endParaRPr b="1" sz="6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6000">
                <a:solidFill>
                  <a:srgbClr val="FF0000"/>
                </a:solidFill>
              </a:rPr>
              <a:t>Respond</a:t>
            </a:r>
            <a:endParaRPr b="1" sz="6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6000">
                <a:solidFill>
                  <a:srgbClr val="0F172A"/>
                </a:solidFill>
              </a:rPr>
              <a:t>IR handles the immediate threat and protects life/safety.</a:t>
            </a:r>
            <a:endParaRPr sz="6000">
              <a:solidFill>
                <a:srgbClr val="0F172A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6000">
                <a:solidFill>
                  <a:srgbClr val="38BDF8"/>
                </a:solidFill>
              </a:rPr>
              <a:t>Continue</a:t>
            </a:r>
            <a:endParaRPr b="1" sz="6000">
              <a:solidFill>
                <a:srgbClr val="38BDF8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6000">
                <a:solidFill>
                  <a:srgbClr val="0F172A"/>
                </a:solidFill>
              </a:rPr>
              <a:t>BC ensures the mission survives the disruption.</a:t>
            </a:r>
            <a:endParaRPr sz="6000">
              <a:solidFill>
                <a:srgbClr val="0F172A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6000">
                <a:solidFill>
                  <a:srgbClr val="A855F7"/>
                </a:solidFill>
              </a:rPr>
              <a:t>Recover</a:t>
            </a:r>
            <a:endParaRPr b="1" sz="6000">
              <a:solidFill>
                <a:srgbClr val="A855F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6000">
                <a:solidFill>
                  <a:srgbClr val="0F172A"/>
                </a:solidFill>
              </a:rPr>
              <a:t>DR brings the IT systems back to their primary state.</a:t>
            </a:r>
            <a:endParaRPr sz="6000">
              <a:solidFill>
                <a:srgbClr val="0F172A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Preparedness is the only true defense in a Zero-Day world.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24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5975" y="4409900"/>
            <a:ext cx="1832525" cy="65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311700" y="1575525"/>
            <a:ext cx="8520600" cy="22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/>
              <a:t>Q&amp;A</a:t>
            </a:r>
            <a:endParaRPr sz="9600"/>
          </a:p>
        </p:txBody>
      </p:sp>
      <p:pic>
        <p:nvPicPr>
          <p:cNvPr id="137" name="Google Shape;137;p25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5975" y="4409900"/>
            <a:ext cx="1832525" cy="65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