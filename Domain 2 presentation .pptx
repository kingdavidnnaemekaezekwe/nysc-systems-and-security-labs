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Noto Sans"/>
      <p:regular r:id="rId19"/>
      <p:bold r:id="rId20"/>
      <p:italic r:id="rId21"/>
      <p:boldItalic r:id="rId22"/>
    </p:embeddedFont>
    <p:embeddedFont>
      <p:font typeface="Noto Sans Armenian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otoSans-bold.fntdata"/><Relationship Id="rId11" Type="http://schemas.openxmlformats.org/officeDocument/2006/relationships/slide" Target="slides/slide6.xml"/><Relationship Id="rId22" Type="http://schemas.openxmlformats.org/officeDocument/2006/relationships/font" Target="fonts/NotoSans-boldItalic.fntdata"/><Relationship Id="rId10" Type="http://schemas.openxmlformats.org/officeDocument/2006/relationships/slide" Target="slides/slide5.xml"/><Relationship Id="rId21" Type="http://schemas.openxmlformats.org/officeDocument/2006/relationships/font" Target="fonts/NotoSans-italic.fntdata"/><Relationship Id="rId13" Type="http://schemas.openxmlformats.org/officeDocument/2006/relationships/slide" Target="slides/slide8.xml"/><Relationship Id="rId24" Type="http://schemas.openxmlformats.org/officeDocument/2006/relationships/font" Target="fonts/NotoSansArmenian-bold.fntdata"/><Relationship Id="rId12" Type="http://schemas.openxmlformats.org/officeDocument/2006/relationships/slide" Target="slides/slide7.xml"/><Relationship Id="rId23" Type="http://schemas.openxmlformats.org/officeDocument/2006/relationships/font" Target="fonts/NotoSansArmenian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NotoSans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7f7f8eb7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7f7f8eb7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931131ca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931131ca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931131ca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931131ca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93e2b477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93e2b477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93e2b477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93e2b477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93e2b477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93e2b477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00"/>
              <a:buChar char="●"/>
            </a:pPr>
            <a:r>
              <a:rPr lang="en" sz="2000">
                <a:solidFill>
                  <a:srgbClr val="0F172A"/>
                </a:solidFill>
              </a:rPr>
              <a:t>Supervise implementation of additional security measures to prevent recurrence.</a:t>
            </a:r>
            <a:endParaRPr sz="2000">
              <a:solidFill>
                <a:srgbClr val="0F172A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00"/>
              <a:buChar char="●"/>
            </a:pPr>
            <a:r>
              <a:t/>
            </a:r>
            <a:endParaRPr sz="2000">
              <a:solidFill>
                <a:srgbClr val="0F172A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a6e53aab1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a6e53aab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aa5c3071d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aa5c3071d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18efbcc24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b18efbcc24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18efbcc2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b18efbcc2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b18efbcc24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b18efbcc24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18efbcc24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b18efbcc2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latin typeface="Noto Sans Armenian"/>
                <a:ea typeface="Noto Sans Armenian"/>
                <a:cs typeface="Noto Sans Armenian"/>
                <a:sym typeface="Noto Sans Armenian"/>
              </a:rPr>
              <a:t>DOMAIN 2in ISC2</a:t>
            </a:r>
            <a:endParaRPr sz="1900"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latin typeface="Noto Sans Armenian"/>
                <a:ea typeface="Noto Sans Armenian"/>
                <a:cs typeface="Noto Sans Armenian"/>
                <a:sym typeface="Noto Sans Armenian"/>
              </a:rPr>
              <a:t> (</a:t>
            </a:r>
            <a:r>
              <a:rPr b="1" lang="en" sz="1900">
                <a:latin typeface="Noto Sans Armenian"/>
                <a:ea typeface="Noto Sans Armenian"/>
                <a:cs typeface="Noto Sans Armenian"/>
                <a:sym typeface="Noto Sans Armenian"/>
              </a:rPr>
              <a:t>incident</a:t>
            </a:r>
            <a:r>
              <a:rPr b="1" lang="en" sz="1900">
                <a:latin typeface="Noto Sans Armenian"/>
                <a:ea typeface="Noto Sans Armenian"/>
                <a:cs typeface="Noto Sans Armenian"/>
                <a:sym typeface="Noto Sans Armenian"/>
              </a:rPr>
              <a:t> </a:t>
            </a:r>
            <a:r>
              <a:rPr b="1" lang="en" sz="1900">
                <a:latin typeface="Noto Sans Armenian"/>
                <a:ea typeface="Noto Sans Armenian"/>
                <a:cs typeface="Noto Sans Armenian"/>
                <a:sym typeface="Noto Sans Armenian"/>
              </a:rPr>
              <a:t>response</a:t>
            </a:r>
            <a:r>
              <a:rPr b="1" lang="en" sz="1900">
                <a:latin typeface="Noto Sans Armenian"/>
                <a:ea typeface="Noto Sans Armenian"/>
                <a:cs typeface="Noto Sans Armenian"/>
                <a:sym typeface="Noto Sans Armenian"/>
              </a:rPr>
              <a:t> </a:t>
            </a:r>
            <a:r>
              <a:rPr b="1" lang="en" sz="1900">
                <a:latin typeface="Noto Sans Armenian"/>
                <a:ea typeface="Noto Sans Armenian"/>
                <a:cs typeface="Noto Sans Armenian"/>
                <a:sym typeface="Noto Sans Armenian"/>
              </a:rPr>
              <a:t>business</a:t>
            </a:r>
            <a:r>
              <a:rPr b="1" lang="en" sz="1900">
                <a:latin typeface="Noto Sans Armenian"/>
                <a:ea typeface="Noto Sans Armenian"/>
                <a:cs typeface="Noto Sans Armenian"/>
                <a:sym typeface="Noto Sans Armenian"/>
              </a:rPr>
              <a:t> continuity &amp; disaster recovery)</a:t>
            </a:r>
            <a:endParaRPr b="1" sz="1900">
              <a:latin typeface="Noto Sans Armenian"/>
              <a:ea typeface="Noto Sans Armenian"/>
              <a:cs typeface="Noto Sans Armenian"/>
              <a:sym typeface="Noto Sans Armenian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900">
              <a:latin typeface="Noto Sans Armenian"/>
              <a:ea typeface="Noto Sans Armenian"/>
              <a:cs typeface="Noto Sans Armenian"/>
              <a:sym typeface="Noto Sans Armeni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latin typeface="Noto Sans Armenian"/>
                <a:ea typeface="Noto Sans Armenian"/>
                <a:cs typeface="Noto Sans Armenian"/>
                <a:sym typeface="Noto Sans Armenian"/>
              </a:rPr>
              <a:t>BY </a:t>
            </a:r>
            <a:endParaRPr b="1" sz="1900">
              <a:latin typeface="Noto Sans Armenian"/>
              <a:ea typeface="Noto Sans Armenian"/>
              <a:cs typeface="Noto Sans Armenian"/>
              <a:sym typeface="Noto Sans Armeni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900">
              <a:latin typeface="Noto Sans Armenian"/>
              <a:ea typeface="Noto Sans Armenian"/>
              <a:cs typeface="Noto Sans Armenian"/>
              <a:sym typeface="Noto Sans Armeni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latin typeface="Noto Sans Armenian"/>
                <a:ea typeface="Noto Sans Armenian"/>
                <a:cs typeface="Noto Sans Armenian"/>
                <a:sym typeface="Noto Sans Armenian"/>
              </a:rPr>
              <a:t>EZEKWE KING  DAVID NNAEMEKA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 title="Screenshot_From_2025-11-14_10-22-39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6125" y="4342125"/>
            <a:ext cx="1386175" cy="62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213700"/>
            <a:ext cx="8520600" cy="5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SCOPE 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826613"/>
            <a:ext cx="8520600" cy="35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❖"/>
            </a:pPr>
            <a:r>
              <a:rPr lang="en" sz="1200"/>
              <a:t>INCIDENT TERMINOLOGY AND CORE </a:t>
            </a:r>
            <a:r>
              <a:rPr lang="en" sz="1200"/>
              <a:t>CONCEPTS</a:t>
            </a:r>
            <a:r>
              <a:rPr lang="en" sz="1200"/>
              <a:t> 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❖"/>
            </a:pPr>
            <a:r>
              <a:rPr lang="en" sz="1200"/>
              <a:t>GOALS AND STRUCTURE OF THE INCIDENT RESPONSE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❖"/>
            </a:pPr>
            <a:r>
              <a:rPr lang="en" sz="1200"/>
              <a:t>ROLES &amp; FUNCTION OF THE INCIDENT RESPONSE TEAM 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❖"/>
            </a:pPr>
            <a:r>
              <a:rPr lang="en" sz="1200"/>
              <a:t>BUSINESS CONTINUITY</a:t>
            </a:r>
            <a:r>
              <a:rPr lang="en" sz="1200"/>
              <a:t> WORKPLACE APPLICATION AND GOALS OF BUSINESS CONTINUITY</a:t>
            </a:r>
            <a:endParaRPr sz="12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❖"/>
            </a:pPr>
            <a:r>
              <a:rPr lang="en" sz="1200"/>
              <a:t>COMPONENT AND EXECUTION OF A BUSINESS CONTINUITY PLAN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❖"/>
            </a:pPr>
            <a:r>
              <a:rPr lang="en" sz="1200"/>
              <a:t>DISASTER RECOVERY STRATEGIES AND REAL WORLD APPLICATIONS</a:t>
            </a:r>
            <a:r>
              <a:rPr lang="en" sz="1200"/>
              <a:t> 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 title="Screenshot_From_2025-11-14_10-22-39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6125" y="4342125"/>
            <a:ext cx="1386175" cy="62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INCIDENT RESPONSE TERMINOLOGIES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28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BREACH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EVENT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EXPLOIT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INCIDENT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INTRUSION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THREAT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VULNERABILITY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ZERO DAY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 title="Screenshot_From_2025-11-14_10-22-39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55950" y="4301500"/>
            <a:ext cx="1476350" cy="61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318450"/>
            <a:ext cx="8248800" cy="5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GOAL OF INCIDENT RESPONSE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546825" y="1030800"/>
            <a:ext cx="5939700" cy="3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5600"/>
              <a:t>PROTECTION OF LIFE,HEALTH AND SAFETY OF THE BUSINESS.</a:t>
            </a:r>
            <a:endParaRPr sz="56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6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5600">
                <a:solidFill>
                  <a:schemeClr val="dk1"/>
                </a:solidFill>
              </a:rPr>
              <a:t>RESTORE NORMAL OPERATION QUICKLY </a:t>
            </a:r>
            <a:endParaRPr sz="5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6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5600">
                <a:solidFill>
                  <a:schemeClr val="dk1"/>
                </a:solidFill>
              </a:rPr>
              <a:t>REDUCE IMPACT ON BUSINESS PROCESSES</a:t>
            </a:r>
            <a:br>
              <a:rPr lang="en" sz="5600">
                <a:solidFill>
                  <a:schemeClr val="dk1"/>
                </a:solidFill>
              </a:rPr>
            </a:br>
            <a:endParaRPr sz="5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6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5600">
                <a:solidFill>
                  <a:schemeClr val="dk1"/>
                </a:solidFill>
              </a:rPr>
              <a:t>PREVENT RECURRENCE THROUGH LESSONS LEARNED </a:t>
            </a:r>
            <a:endParaRPr sz="5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5600">
                <a:solidFill>
                  <a:schemeClr val="dk1"/>
                </a:solidFill>
              </a:rPr>
            </a:br>
            <a:endParaRPr sz="56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5600">
                <a:solidFill>
                  <a:schemeClr val="dk1"/>
                </a:solidFill>
              </a:rPr>
              <a:t>MAINTAIN STAKEHOLDER AND MANAGEMENT COMMUNICATION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b="1" lang="en" sz="1500">
                <a:solidFill>
                  <a:schemeClr val="dk1"/>
                </a:solidFill>
              </a:rPr>
            </a:br>
            <a:br>
              <a:rPr b="1" lang="en" sz="1100">
                <a:solidFill>
                  <a:schemeClr val="dk1"/>
                </a:solidFill>
              </a:rPr>
            </a:br>
            <a:endParaRPr/>
          </a:p>
        </p:txBody>
      </p:sp>
      <p:pic>
        <p:nvPicPr>
          <p:cNvPr id="77" name="Google Shape;77;p16" title="Screenshot_From_2025-11-14_10-22-39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55950" y="4340925"/>
            <a:ext cx="1381819" cy="57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/>
        </p:nvSpPr>
        <p:spPr>
          <a:xfrm>
            <a:off x="832350" y="287025"/>
            <a:ext cx="74793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2"/>
                </a:solidFill>
              </a:rPr>
              <a:t>COMPONENT OF THE INCIDENT RESPONSE PLAN</a:t>
            </a:r>
            <a:endParaRPr sz="1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</a:rPr>
              <a:t> </a:t>
            </a:r>
            <a:endParaRPr sz="2400">
              <a:solidFill>
                <a:schemeClr val="dk2"/>
              </a:solidFill>
            </a:endParaRPr>
          </a:p>
        </p:txBody>
      </p:sp>
      <p:pic>
        <p:nvPicPr>
          <p:cNvPr id="83" name="Google Shape;83;p17" title="Screenshot_From_2025-11-14_10-22-39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4500" y="4342125"/>
            <a:ext cx="1507800" cy="62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7" title="Screenshot_From_2025-11-27_10-23-01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1575" y="896651"/>
            <a:ext cx="7112900" cy="344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24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INCIDENT RESPONSE TEAM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IS THE INCIDENT RESPONSE TEAM: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● Representative(s) of senior management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● Information security professionals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● Legal representatives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● Public affairs/communications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representatives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● Engineering representatives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(system and network)</a:t>
            </a:r>
            <a:endParaRPr/>
          </a:p>
        </p:txBody>
      </p:sp>
      <p:pic>
        <p:nvPicPr>
          <p:cNvPr id="91" name="Google Shape;91;p18" title="Screenshot_From_2025-11-14_10-22-39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4500" y="4342125"/>
            <a:ext cx="1507800" cy="62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6100"/>
            <a:ext cx="8520600" cy="97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ROLES OF THE CIRTs/CSIRTs</a:t>
            </a:r>
            <a:endParaRPr/>
          </a:p>
        </p:txBody>
      </p:sp>
      <p:pic>
        <p:nvPicPr>
          <p:cNvPr id="97" name="Google Shape;97;p19" title="Screenshot_From_2025-11-14_10-22-39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40700" y="4237375"/>
            <a:ext cx="1507800" cy="6243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9"/>
          <p:cNvSpPr txBox="1"/>
          <p:nvPr/>
        </p:nvSpPr>
        <p:spPr>
          <a:xfrm>
            <a:off x="620125" y="745350"/>
            <a:ext cx="64320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00"/>
              <a:buChar char="●"/>
            </a:pPr>
            <a:r>
              <a:rPr lang="en" sz="2000">
                <a:solidFill>
                  <a:srgbClr val="0F172A"/>
                </a:solidFill>
              </a:rPr>
              <a:t>Security Hardening.</a:t>
            </a:r>
            <a:endParaRPr sz="2000">
              <a:solidFill>
                <a:srgbClr val="0F172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F172A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</a:rPr>
              <a:t>Incident Remediation.</a:t>
            </a:r>
            <a:endParaRPr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</a:rPr>
              <a:t>Impact Assessment.</a:t>
            </a:r>
            <a:endParaRPr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</a:rPr>
              <a:t>Data Exposure Analysis.</a:t>
            </a:r>
            <a:endParaRPr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F172A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BUSINESS CONTINUITY PLAN WORKPLACE APPLICATION &amp; GOALS OF BUSINESS CONTINUITY</a:t>
            </a:r>
            <a:endParaRPr sz="1800"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74424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50"/>
              <a:t>WORKPLACE APPLICATION:</a:t>
            </a:r>
            <a:endParaRPr sz="215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50">
                <a:solidFill>
                  <a:srgbClr val="FF0000"/>
                </a:solidFill>
                <a:highlight>
                  <a:schemeClr val="lt1"/>
                </a:highlight>
              </a:rPr>
              <a:t>REDBOOK</a:t>
            </a:r>
            <a:endParaRPr sz="2150">
              <a:solidFill>
                <a:srgbClr val="FF0000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50">
                <a:solidFill>
                  <a:schemeClr val="dk1"/>
                </a:solidFill>
                <a:highlight>
                  <a:schemeClr val="lt1"/>
                </a:highlight>
              </a:rPr>
              <a:t>GOALS OF BUSINESS </a:t>
            </a:r>
            <a:r>
              <a:rPr lang="en" sz="2150">
                <a:solidFill>
                  <a:schemeClr val="dk1"/>
                </a:solidFill>
                <a:highlight>
                  <a:schemeClr val="lt1"/>
                </a:highlight>
              </a:rPr>
              <a:t>CONTINUITY</a:t>
            </a:r>
            <a:r>
              <a:rPr lang="en" sz="2150">
                <a:solidFill>
                  <a:schemeClr val="dk1"/>
                </a:solidFill>
                <a:highlight>
                  <a:schemeClr val="lt1"/>
                </a:highlight>
              </a:rPr>
              <a:t> </a:t>
            </a:r>
            <a:endParaRPr sz="21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03688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2150">
                <a:solidFill>
                  <a:schemeClr val="dk1"/>
                </a:solidFill>
              </a:rPr>
              <a:t>Ensure critical business operations continue during disruptions</a:t>
            </a:r>
            <a:br>
              <a:rPr b="1" lang="en" sz="2150">
                <a:solidFill>
                  <a:schemeClr val="dk1"/>
                </a:solidFill>
              </a:rPr>
            </a:br>
            <a:endParaRPr b="1" sz="2150">
              <a:solidFill>
                <a:schemeClr val="dk1"/>
              </a:solidFill>
            </a:endParaRPr>
          </a:p>
          <a:p>
            <a:pPr indent="-30368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2150">
                <a:solidFill>
                  <a:schemeClr val="dk1"/>
                </a:solidFill>
              </a:rPr>
              <a:t>Minimize downtime and service interruption</a:t>
            </a:r>
            <a:br>
              <a:rPr b="1" lang="en" sz="2150">
                <a:solidFill>
                  <a:schemeClr val="dk1"/>
                </a:solidFill>
              </a:rPr>
            </a:br>
            <a:endParaRPr b="1" sz="2150">
              <a:solidFill>
                <a:schemeClr val="dk1"/>
              </a:solidFill>
            </a:endParaRPr>
          </a:p>
          <a:p>
            <a:pPr indent="-30368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2150">
                <a:solidFill>
                  <a:schemeClr val="dk1"/>
                </a:solidFill>
              </a:rPr>
              <a:t>Protect essential assets, data, and resources</a:t>
            </a:r>
            <a:br>
              <a:rPr b="1" lang="en" sz="2150">
                <a:solidFill>
                  <a:schemeClr val="dk1"/>
                </a:solidFill>
              </a:rPr>
            </a:br>
            <a:endParaRPr b="1" sz="2150">
              <a:solidFill>
                <a:schemeClr val="dk1"/>
              </a:solidFill>
            </a:endParaRPr>
          </a:p>
          <a:p>
            <a:pPr indent="-30368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2150">
                <a:solidFill>
                  <a:schemeClr val="dk1"/>
                </a:solidFill>
              </a:rPr>
              <a:t>Maintain delivery of products and services to customers</a:t>
            </a:r>
            <a:br>
              <a:rPr b="1" lang="en" sz="2150">
                <a:solidFill>
                  <a:schemeClr val="dk1"/>
                </a:solidFill>
              </a:rPr>
            </a:br>
            <a:endParaRPr b="1" sz="2150">
              <a:solidFill>
                <a:schemeClr val="dk1"/>
              </a:solidFill>
            </a:endParaRPr>
          </a:p>
          <a:p>
            <a:pPr indent="-30368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2150">
                <a:solidFill>
                  <a:schemeClr val="dk1"/>
                </a:solidFill>
              </a:rPr>
              <a:t>Reduce financial and operational impact of disruptions</a:t>
            </a:r>
            <a:br>
              <a:rPr b="1" lang="en" sz="2150">
                <a:solidFill>
                  <a:schemeClr val="dk1"/>
                </a:solidFill>
              </a:rPr>
            </a:br>
            <a:endParaRPr b="1" sz="2150">
              <a:solidFill>
                <a:schemeClr val="dk1"/>
              </a:solidFill>
            </a:endParaRPr>
          </a:p>
          <a:p>
            <a:pPr indent="-30368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2150">
                <a:solidFill>
                  <a:schemeClr val="dk1"/>
                </a:solidFill>
              </a:rPr>
              <a:t>Enable fast and organized recovery after an incident</a:t>
            </a:r>
            <a:br>
              <a:rPr b="1" lang="en" sz="2150">
                <a:solidFill>
                  <a:schemeClr val="dk1"/>
                </a:solidFill>
              </a:rPr>
            </a:br>
            <a:endParaRPr b="1" sz="2150">
              <a:solidFill>
                <a:schemeClr val="dk1"/>
              </a:solidFill>
            </a:endParaRPr>
          </a:p>
          <a:p>
            <a:pPr indent="-30368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2150">
                <a:solidFill>
                  <a:schemeClr val="dk1"/>
                </a:solidFill>
              </a:rPr>
              <a:t>Strengthen organizational resilience and preparedness</a:t>
            </a:r>
            <a:endParaRPr b="1" sz="215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20" title="Screenshot_From_2025-11-14_10-22-39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40700" y="4237375"/>
            <a:ext cx="1507800" cy="62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COMPONENT AND EXECUTION OF A BUSINESS CONTINUITY PLAN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11" name="Google Shape;111;p21" title="Screenshot_From_2025-12-18_11-19-30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600" y="1152475"/>
            <a:ext cx="7783325" cy="379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1" title="Screenshot_From_2025-11-14_10-22-39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11200" y="4372500"/>
            <a:ext cx="1937300" cy="69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1206775" y="645300"/>
            <a:ext cx="6830100" cy="341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4750">
                <a:highlight>
                  <a:srgbClr val="FFFFFF"/>
                </a:highlight>
              </a:rPr>
              <a:t>Business</a:t>
            </a:r>
            <a:endParaRPr sz="4750"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4750">
                <a:highlight>
                  <a:srgbClr val="FFFFFF"/>
                </a:highlight>
              </a:rPr>
              <a:t>Continuity</a:t>
            </a:r>
            <a:endParaRPr sz="4750"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750">
                <a:highlight>
                  <a:srgbClr val="FFFFFF"/>
                </a:highlight>
              </a:rPr>
              <a:t>in </a:t>
            </a:r>
            <a:endParaRPr sz="4750"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4750">
                <a:highlight>
                  <a:srgbClr val="FFFFFF"/>
                </a:highlight>
              </a:rPr>
              <a:t>Action</a:t>
            </a:r>
            <a:endParaRPr sz="4750"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22" title="Screenshot_From_2025-11-14_10-22-39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11200" y="4372500"/>
            <a:ext cx="1937300" cy="69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COMPONENTS OF DISASTER RECOVERY PLAN</a:t>
            </a:r>
            <a:endParaRPr/>
          </a:p>
        </p:txBody>
      </p:sp>
      <p:pic>
        <p:nvPicPr>
          <p:cNvPr id="124" name="Google Shape;124;p23" title="Screenshot_From_2025-12-18_12-18-47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5375" y="1156500"/>
            <a:ext cx="6916150" cy="373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3" title="Screenshot_From_2025-11-14_10-22-39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15975" y="4409900"/>
            <a:ext cx="1832525" cy="65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CONCLUSION</a:t>
            </a:r>
            <a:endParaRPr/>
          </a:p>
        </p:txBody>
      </p:sp>
      <p:sp>
        <p:nvSpPr>
          <p:cNvPr id="131" name="Google Shape;13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24" title="Screenshot_From_2025-11-14_10-22-39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5975" y="4409900"/>
            <a:ext cx="1832525" cy="65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>
            <p:ph type="title"/>
          </p:nvPr>
        </p:nvSpPr>
        <p:spPr>
          <a:xfrm>
            <a:off x="311700" y="1575525"/>
            <a:ext cx="8520600" cy="22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/>
              <a:t>Q&amp;A</a:t>
            </a:r>
            <a:endParaRPr sz="9600"/>
          </a:p>
        </p:txBody>
      </p:sp>
      <p:pic>
        <p:nvPicPr>
          <p:cNvPr id="138" name="Google Shape;138;p25" title="Screenshot_From_2025-11-14_10-22-39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5975" y="4409900"/>
            <a:ext cx="1832525" cy="65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