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oto Sans"/>
      <p:regular r:id="rId19"/>
      <p:bold r:id="rId20"/>
      <p:italic r:id="rId21"/>
      <p:boldItalic r:id="rId22"/>
    </p:embeddedFont>
    <p:embeddedFont>
      <p:font typeface="Noto Sans Armenian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6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NotoSans-italic.fntdata"/><Relationship Id="rId13" Type="http://schemas.openxmlformats.org/officeDocument/2006/relationships/slide" Target="slides/slide8.xml"/><Relationship Id="rId24" Type="http://schemas.openxmlformats.org/officeDocument/2006/relationships/font" Target="fonts/NotoSansArmenian-bold.fntdata"/><Relationship Id="rId12" Type="http://schemas.openxmlformats.org/officeDocument/2006/relationships/slide" Target="slides/slide7.xml"/><Relationship Id="rId23" Type="http://schemas.openxmlformats.org/officeDocument/2006/relationships/font" Target="fonts/NotoSansArmenia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f7f8eb7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f7f8eb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31131ca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31131c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31131ca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31131c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93e2b477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93e2b477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93e2b47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93e2b47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3e2b477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93e2b47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rPr lang="en" sz="2000">
                <a:solidFill>
                  <a:srgbClr val="0F172A"/>
                </a:solidFill>
              </a:rPr>
              <a:t>Supervise implementation of additional security measures to prevent recurrence.</a:t>
            </a:r>
            <a:endParaRPr sz="2000">
              <a:solidFill>
                <a:srgbClr val="0F172A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t/>
            </a:r>
            <a:endParaRPr sz="2000">
              <a:solidFill>
                <a:srgbClr val="0F172A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6e53aab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a6e53aab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a5c3071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a5c307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8efbcc2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18efbcc2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8efbcc2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18efbcc2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8efbcc2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18efbcc2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8efbcc2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18efbcc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DOMAIN 2in ISC2</a:t>
            </a:r>
            <a:endParaRPr sz="19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(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incident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response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business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continuity &amp; disaster recovery)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BY 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EZEKWE KING  DAVID NNAEMEKA</a:t>
            </a:r>
            <a:endParaRPr/>
          </a:p>
        </p:txBody>
      </p:sp>
      <p:pic>
        <p:nvPicPr>
          <p:cNvPr id="55" name="Google Shape;55;p13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9350"/>
            <a:ext cx="8520600" cy="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594326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INCIDENT TERMINOLOGY AND CORE </a:t>
            </a:r>
            <a:r>
              <a:rPr lang="en"/>
              <a:t>CONCEPTS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GOALS AND STRUCTURE OF THE INCIDENT RESPONSE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COMPONENTS INCIDENT RESPONSE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ROLES &amp; FUNCTION OF THE INCIDENT RESPONSE TEAM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BUSINESS CONTINUITY</a:t>
            </a:r>
            <a:r>
              <a:rPr lang="en"/>
              <a:t> WORKPLACE APPLICATION AND GOALS OF BUSINESS CONTINUITY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COMPONENT AND EXECUTION OF A BUSINESS CONTINUITY PLAN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DISASTER RECOVERY STRATEGIES AND REAL WORLD APPLICATIONS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TERMINOLOGIES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28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BREACH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EVENT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EXPLOIT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INCIDENT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INTRUSION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THREAT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VULNERABILITY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ZERO DAY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950" y="4301500"/>
            <a:ext cx="1476350" cy="6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18450"/>
            <a:ext cx="82488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OF INCIDENT RESPONSE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546825" y="1030800"/>
            <a:ext cx="59397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PROTECTION OF LIFE,HEALTH AND SAFETY OF THE BUSINESS.</a:t>
            </a:r>
            <a:endParaRPr sz="5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RESTORE NORMAL OPERATION QUICKLY 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REDUCE IMPACT ON BUSINESS PROCESSES</a:t>
            </a:r>
            <a:br>
              <a:rPr lang="en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PREVENT RECURRENCE THROUGH LESSONS LEARNED 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MAINTAIN STAKEHOLDER AND MANAGEMENT COMMUNICATION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b="1" lang="en" sz="1500">
                <a:solidFill>
                  <a:schemeClr val="dk1"/>
                </a:solidFill>
              </a:rPr>
            </a:br>
            <a:br>
              <a:rPr b="1" lang="en" sz="11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76" name="Google Shape;76;p16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950" y="4340925"/>
            <a:ext cx="1381819" cy="5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832350" y="287025"/>
            <a:ext cx="7479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COMPONENT OF THE INCIDENT RESPONSE PLAN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82" name="Google Shape;82;p17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500" y="4342125"/>
            <a:ext cx="1507800" cy="6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_From_2025-11-27_10-23-01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575" y="896651"/>
            <a:ext cx="7112900" cy="34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2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TEAM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THE INCIDENT RESPONSE TEAM: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Representative(s) of senior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Information security professionals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Legal 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Public affairs/communications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Engineering 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(system and network)</a:t>
            </a:r>
            <a:endParaRPr/>
          </a:p>
        </p:txBody>
      </p:sp>
      <p:pic>
        <p:nvPicPr>
          <p:cNvPr id="90" name="Google Shape;90;p18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500" y="4342125"/>
            <a:ext cx="1507800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6100"/>
            <a:ext cx="85206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OF THE CIRTs/CSIRTs</a:t>
            </a:r>
            <a:endParaRPr/>
          </a:p>
        </p:txBody>
      </p:sp>
      <p:pic>
        <p:nvPicPr>
          <p:cNvPr id="96" name="Google Shape;96;p19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00" y="4237375"/>
            <a:ext cx="1507800" cy="6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620125" y="745350"/>
            <a:ext cx="6432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rPr lang="en" sz="2000">
                <a:solidFill>
                  <a:srgbClr val="0F172A"/>
                </a:solidFill>
              </a:rPr>
              <a:t>Security Hardening.</a:t>
            </a:r>
            <a:endParaRPr sz="2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72A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Incident Remediation.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Impact Assessment.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Data Exposure Analysis.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BUSINESS CONTINUITY PLAN WORKPLACE APPLICATION &amp; GOALS OF BUSINESS CONTINUITY</a:t>
            </a:r>
            <a:endParaRPr sz="18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7442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WORKPLACE APPLICATION:</a:t>
            </a:r>
            <a:endParaRPr sz="21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0000"/>
                </a:solidFill>
                <a:highlight>
                  <a:schemeClr val="lt1"/>
                </a:highlight>
              </a:rPr>
              <a:t>REDBOOK</a:t>
            </a:r>
            <a:endParaRPr sz="215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GOALS OF BUSINESS 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CONTINUITY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368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Ensure critical business operations continue during disruptions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Minimize downtime and service interruption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Protect essential assets, data, and resources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Maintain delivery of products and services to customers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Reduce financial and operational impact of disruptions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Enable fast and organized recovery after an incident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Strengthen organizational resilience and preparedness</a:t>
            </a:r>
            <a:endParaRPr b="1" sz="2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00" y="4237375"/>
            <a:ext cx="1507800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COMPONENT AND EXECUTION OF A BUSINESS CONTINUITY PLAN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0" name="Google Shape;110;p21" title="Screenshot_From_2025-12-18_11-19-30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00" y="1152475"/>
            <a:ext cx="7783325" cy="37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200" y="4372500"/>
            <a:ext cx="1937300" cy="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1206775" y="645300"/>
            <a:ext cx="6830100" cy="34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Business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Continuity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50">
                <a:highlight>
                  <a:srgbClr val="FFFFFF"/>
                </a:highlight>
              </a:rPr>
              <a:t>in 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Action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1200" y="4372500"/>
            <a:ext cx="1937300" cy="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DISASTER RECOVERY PLAN</a:t>
            </a:r>
            <a:endParaRPr/>
          </a:p>
        </p:txBody>
      </p:sp>
      <p:pic>
        <p:nvPicPr>
          <p:cNvPr id="123" name="Google Shape;123;p23" title="Screenshot_From_2025-12-18_12-18-4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75" y="1156500"/>
            <a:ext cx="6916150" cy="37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CONCLUSION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068675"/>
            <a:ext cx="8186100" cy="3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chemeClr val="dk1"/>
                </a:solidFill>
              </a:rPr>
              <a:t>Conclusion: The Resilience Triad</a:t>
            </a:r>
            <a:endParaRPr b="1" sz="6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FF0000"/>
                </a:solidFill>
              </a:rPr>
              <a:t>Respond</a:t>
            </a:r>
            <a:endParaRPr b="1" sz="6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IR handles the immediate threat and protects life/safety.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38BDF8"/>
                </a:solidFill>
              </a:rPr>
              <a:t>Continue</a:t>
            </a:r>
            <a:endParaRPr b="1" sz="6000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BC ensures the mission survives the disruption.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A855F7"/>
                </a:solidFill>
              </a:rPr>
              <a:t>Recover</a:t>
            </a:r>
            <a:endParaRPr b="1" sz="6000">
              <a:solidFill>
                <a:srgbClr val="A855F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DR brings the IT systems back to their primary state.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Preparedness is the only true defense in a Zero-Day world.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1575525"/>
            <a:ext cx="8520600" cy="22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Q&amp;A</a:t>
            </a:r>
            <a:endParaRPr sz="9600"/>
          </a:p>
        </p:txBody>
      </p:sp>
      <p:pic>
        <p:nvPicPr>
          <p:cNvPr id="137" name="Google Shape;137;p2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