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Noto Sans"/>
      <p:regular r:id="rId19"/>
      <p:bold r:id="rId20"/>
      <p:italic r:id="rId21"/>
      <p:boldItalic r:id="rId22"/>
    </p:embeddedFont>
    <p:embeddedFont>
      <p:font typeface="Noto Sans Armenian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B17E0B-32EE-4902-B9CB-AA66ECD67B8B}">
  <a:tblStyle styleId="{1DB17E0B-32EE-4902-B9CB-AA66ECD67B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bold.fntdata"/><Relationship Id="rId11" Type="http://schemas.openxmlformats.org/officeDocument/2006/relationships/slide" Target="slides/slide5.xml"/><Relationship Id="rId22" Type="http://schemas.openxmlformats.org/officeDocument/2006/relationships/font" Target="fonts/NotoSans-boldItalic.fntdata"/><Relationship Id="rId10" Type="http://schemas.openxmlformats.org/officeDocument/2006/relationships/slide" Target="slides/slide4.xml"/><Relationship Id="rId21" Type="http://schemas.openxmlformats.org/officeDocument/2006/relationships/font" Target="fonts/NotoSans-italic.fntdata"/><Relationship Id="rId13" Type="http://schemas.openxmlformats.org/officeDocument/2006/relationships/slide" Target="slides/slide7.xml"/><Relationship Id="rId24" Type="http://schemas.openxmlformats.org/officeDocument/2006/relationships/font" Target="fonts/NotoSansArmenian-bold.fntdata"/><Relationship Id="rId12" Type="http://schemas.openxmlformats.org/officeDocument/2006/relationships/slide" Target="slides/slide6.xml"/><Relationship Id="rId23" Type="http://schemas.openxmlformats.org/officeDocument/2006/relationships/font" Target="fonts/NotoSansArmenia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NotoSans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e147d3bb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e147d3bb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32d087f2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32d087f2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32d087f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32d087f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32d087f2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32d087f2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32d087f2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32d087f2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32d087f2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32d087f2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32d087f2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32d087f2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32d087f2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32d087f2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32d087f2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32d087f2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32d087f28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32d087f2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32d087f28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32d087f28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DOMAIN 3in ISC2</a:t>
            </a:r>
            <a:endParaRPr sz="19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 (access control concepts)</a:t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BY </a:t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EZEKWE KING  DAVID NNAEMEKA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125" y="4342125"/>
            <a:ext cx="1386175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025"/>
            <a:ext cx="85206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57100" y="659250"/>
            <a:ext cx="8412300" cy="44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4800"/>
              <a:t> The layered strategy:</a:t>
            </a:r>
            <a:r>
              <a:rPr lang="en" sz="4800"/>
              <a:t> O</a:t>
            </a:r>
            <a:r>
              <a:rPr lang="en" sz="4800"/>
              <a:t>verview of security controls, including security control concepts, defense in depth, and privileged account access management.</a:t>
            </a:r>
            <a:endParaRPr sz="4800"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4800"/>
              <a:t> </a:t>
            </a:r>
            <a:r>
              <a:rPr b="1" lang="en" sz="4800"/>
              <a:t>Administrative guardrails:</a:t>
            </a:r>
            <a:r>
              <a:rPr lang="en" sz="4800"/>
              <a:t> Separation of duties, covering two-person integrity, authorized versus unauthorized accounts, user provisioning processes, and separation of employment.</a:t>
            </a:r>
            <a:endParaRPr sz="4800"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4800"/>
              <a:t> </a:t>
            </a:r>
            <a:r>
              <a:rPr b="1" lang="en" sz="4800"/>
              <a:t>Physical security controls</a:t>
            </a:r>
            <a:r>
              <a:rPr lang="en" sz="4800"/>
              <a:t>, including types of physical access control, badge systems, CPTED, biometric controls, monitoring, security guards, and alarm systems.</a:t>
            </a:r>
            <a:endParaRPr sz="4800"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 sz="4800"/>
              <a:t>Logical access control</a:t>
            </a:r>
            <a:r>
              <a:rPr b="1" lang="en" sz="4800"/>
              <a:t>.</a:t>
            </a:r>
            <a:endParaRPr b="1" sz="4800"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4800"/>
              <a:t> </a:t>
            </a:r>
            <a:r>
              <a:rPr b="1" lang="en" sz="4800"/>
              <a:t>Access control models</a:t>
            </a:r>
            <a:r>
              <a:rPr lang="en" sz="4800"/>
              <a:t>,DAC,MAC, RBAC and RuBAC.</a:t>
            </a:r>
            <a:endParaRPr sz="4800"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 sz="4800"/>
              <a:t>Conclusion and Q&amp;A.</a:t>
            </a:r>
            <a:endParaRPr b="1" sz="48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125" y="4342125"/>
            <a:ext cx="1386175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125" y="4342125"/>
            <a:ext cx="1386175" cy="6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815425" y="432100"/>
            <a:ext cx="50319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The Layered Strategy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27575" y="1163925"/>
            <a:ext cx="7743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Security Control Concepts:</a:t>
            </a:r>
            <a:r>
              <a:rPr lang="en" sz="1800">
                <a:solidFill>
                  <a:schemeClr val="dk1"/>
                </a:solidFill>
              </a:rPr>
              <a:t> High-level mechanisms to manage risk.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Privileged Accounts:</a:t>
            </a:r>
            <a:r>
              <a:rPr lang="en" sz="1800">
                <a:solidFill>
                  <a:schemeClr val="dk1"/>
                </a:solidFill>
              </a:rPr>
              <a:t> Managing access for Admins, Help Desk, and Analysts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1" name="Google Shape;71;p15" title="types-of-security-controls__1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425" y="1949650"/>
            <a:ext cx="6630699" cy="306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471950" y="143625"/>
            <a:ext cx="7760700" cy="64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		 </a:t>
            </a:r>
            <a:r>
              <a:rPr b="1" lang="en"/>
              <a:t>ACCESS CONTROL OVERVIEW</a:t>
            </a:r>
            <a:endParaRPr b="1"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8475" y="4611475"/>
            <a:ext cx="1386175" cy="6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Screenshot_2026-02-03_16_55_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400" y="1119600"/>
            <a:ext cx="7722225" cy="357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DEFENSE </a:t>
            </a:r>
            <a:r>
              <a:rPr b="1" lang="en"/>
              <a:t>IN DEPTH</a:t>
            </a:r>
            <a:endParaRPr b="1"/>
          </a:p>
        </p:txBody>
      </p:sp>
      <p:pic>
        <p:nvPicPr>
          <p:cNvPr id="85" name="Google Shape;85;p17" title="Screenshot_2026-02-04_19_52_28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700" y="1414800"/>
            <a:ext cx="5158775" cy="361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Screenshot_From_2025-11-14_10-22-39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6125" y="4342125"/>
            <a:ext cx="1386175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Separation of Duties:</a:t>
            </a:r>
            <a:r>
              <a:rPr lang="en">
                <a:solidFill>
                  <a:schemeClr val="dk1"/>
                </a:solidFill>
              </a:rPr>
              <a:t> Dividing tasks to prevent fraud or error.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Two-Person Integrity:</a:t>
            </a:r>
            <a:r>
              <a:rPr lang="en">
                <a:solidFill>
                  <a:schemeClr val="dk1"/>
                </a:solidFill>
              </a:rPr>
              <a:t> Requiring dual authorization for critical actions.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Employment Lifecycle:</a:t>
            </a:r>
            <a:r>
              <a:rPr lang="en">
                <a:solidFill>
                  <a:schemeClr val="dk1"/>
                </a:solidFill>
              </a:rPr>
              <a:t> Formal processes for provisioning and separation.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676050" y="292725"/>
            <a:ext cx="731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r>
              <a:rPr b="1" lang="en" sz="1800">
                <a:solidFill>
                  <a:schemeClr val="dk2"/>
                </a:solidFill>
              </a:rPr>
              <a:t>ADMINISTRATIVE</a:t>
            </a:r>
            <a:r>
              <a:rPr b="1" lang="en" sz="1800">
                <a:solidFill>
                  <a:schemeClr val="dk2"/>
                </a:solidFill>
              </a:rPr>
              <a:t> GUARDRAILS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" name="Google Shape;97;p19"/>
          <p:cNvGraphicFramePr/>
          <p:nvPr/>
        </p:nvGraphicFramePr>
        <p:xfrm>
          <a:off x="1217325" y="40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{1DB17E0B-32EE-4902-B9CB-AA66ECD67B8B}</a:tableStyleId>
              </a:tblPr>
              <a:tblGrid>
                <a:gridCol w="2143525"/>
                <a:gridCol w="2143525"/>
                <a:gridCol w="2143525"/>
              </a:tblGrid>
              <a:tr h="59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Authorized personnel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Unauthorized </a:t>
                      </a:r>
                      <a:r>
                        <a:rPr lang="en"/>
                        <a:t>personnel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Element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Authorized Personnel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Unauthorized Personnel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86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Subject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Validated entities (users/processes) with verified identities.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127000" marR="1270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44746"/>
                        </a:solidFill>
                        <a:highlight>
                          <a:srgbClr val="F0F4F9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Entities that lack valid credentials or formal system recognition.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127000" marR="1270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44746"/>
                        </a:solidFill>
                        <a:highlight>
                          <a:srgbClr val="F0F4F9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7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Object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Granted access to specific resources (files, databases, hardware).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Denied access to resources; the system blocks their interaction.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8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Rules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These individuals satisfy the logic or conditions (MAC, RBAC, etc.) required for access.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marR="1270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44746"/>
                        </a:solidFill>
                        <a:highlight>
                          <a:srgbClr val="F0F4F9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These individuals fail to meet the required criteria or security labels.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127000" marR="1270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44746"/>
                        </a:solidFill>
                        <a:highlight>
                          <a:srgbClr val="F0F4F9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Security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Environment:</a:t>
            </a:r>
            <a:r>
              <a:rPr lang="en">
                <a:solidFill>
                  <a:schemeClr val="dk1"/>
                </a:solidFill>
              </a:rPr>
              <a:t> CPTED (Crime Prevention Through Environmental Design).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Detection:</a:t>
            </a:r>
            <a:r>
              <a:rPr lang="en">
                <a:solidFill>
                  <a:schemeClr val="dk1"/>
                </a:solidFill>
              </a:rPr>
              <a:t> Integrated alarm systems and monitoring.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Verification:</a:t>
            </a:r>
            <a:r>
              <a:rPr lang="en">
                <a:solidFill>
                  <a:schemeClr val="dk1"/>
                </a:solidFill>
              </a:rPr>
              <a:t> Badge systems, security guards, and biometric controls.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125" y="4342125"/>
            <a:ext cx="1386175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Logical access control element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Technical Control:</a:t>
            </a:r>
            <a:r>
              <a:rPr lang="en">
                <a:solidFill>
                  <a:schemeClr val="dk1"/>
                </a:solidFill>
              </a:rPr>
              <a:t> Digital gatekeeping for system protection.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The Trinity:</a:t>
            </a:r>
            <a:r>
              <a:rPr lang="en">
                <a:solidFill>
                  <a:schemeClr val="dk1"/>
                </a:solidFill>
              </a:rPr>
              <a:t> Access is determined by t</a:t>
            </a:r>
            <a:r>
              <a:rPr lang="en">
                <a:solidFill>
                  <a:schemeClr val="dk1"/>
                </a:solidFill>
              </a:rPr>
              <a:t>hree fundamental components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Identification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Authentification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Authorization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(Subjects, Objects, and Rules):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 title="Screenshot_2026-02-03_16_55_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0175" y="2304400"/>
            <a:ext cx="3791425" cy="175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 title="Screenshot_From_2025-11-14_10-22-39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6125" y="4342125"/>
            <a:ext cx="1386175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Control Models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214125" y="1194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DAC &amp; MAC:</a:t>
            </a:r>
            <a:r>
              <a:rPr lang="en" sz="1400">
                <a:solidFill>
                  <a:schemeClr val="dk1"/>
                </a:solidFill>
              </a:rPr>
              <a:t> Discretionary (owner-based) vs. Mandatory (label-based).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RBAC &amp; RuBAC:</a:t>
            </a:r>
            <a:r>
              <a:rPr lang="en" sz="1400">
                <a:solidFill>
                  <a:schemeClr val="dk1"/>
                </a:solidFill>
              </a:rPr>
              <a:t> Role-based (job function) vs. Rule-based (conditional).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9" name="Google Shape;119;p22"/>
          <p:cNvGraphicFramePr/>
          <p:nvPr/>
        </p:nvGraphicFramePr>
        <p:xfrm>
          <a:off x="952500" y="229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{1DB17E0B-32EE-4902-B9CB-AA66ECD67B8B}</a:tableStyleId>
              </a:tblPr>
              <a:tblGrid>
                <a:gridCol w="3365125"/>
                <a:gridCol w="3365125"/>
              </a:tblGrid>
              <a:tr h="107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DAC 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107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RBAC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RUBAC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120" name="Google Shape;120;p22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4000" y="4519200"/>
            <a:ext cx="1386175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21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Summary:</a:t>
            </a:r>
            <a:r>
              <a:rPr lang="en" sz="2000">
                <a:solidFill>
                  <a:schemeClr val="dk1"/>
                </a:solidFill>
              </a:rPr>
              <a:t> Integration of Physical, Administrative, and Logical controls.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3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2725" y="4153825"/>
            <a:ext cx="2197450" cy="98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5073800" y="4425650"/>
            <a:ext cx="3875100" cy="5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</a:t>
            </a:r>
            <a:r>
              <a:rPr lang="en"/>
              <a:t>NK </a:t>
            </a:r>
            <a:r>
              <a:rPr lang="en"/>
              <a:t>YOU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0"/>
              <a:t>Q&amp;A</a:t>
            </a:r>
            <a:endParaRPr sz="1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